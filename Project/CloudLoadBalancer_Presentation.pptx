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457200"/>
            <a:ext cx="11430000" cy="5943600"/>
          </a:xfrm>
          <a:prstGeom prst="roundRect">
            <a:avLst>
              <a:gd name="adj" fmla="val 3077"/>
            </a:avLst>
          </a:prstGeom>
          <a:solidFill>
            <a:srgbClr val="0A1628"/>
          </a:solidFill>
          <a:ln w="25400">
            <a:solidFill>
              <a:srgbClr val="00D4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754880" y="731520"/>
            <a:ext cx="2651760" cy="320040"/>
          </a:xfrm>
          <a:prstGeom prst="roundRect">
            <a:avLst>
              <a:gd name="adj" fmla="val 42857"/>
            </a:avLst>
          </a:prstGeom>
          <a:solidFill>
            <a:srgbClr val="007A94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754880" y="73152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OPERATING SYSTEMS PROJECT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" y="1188720"/>
            <a:ext cx="10698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Cloud / Data Center Manager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731520" y="2148840"/>
            <a:ext cx="10698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Load Balancer Simulation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2286000" y="2926080"/>
            <a:ext cx="7589520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88720" y="3108960"/>
            <a:ext cx="2194560" cy="347472"/>
          </a:xfrm>
          <a:prstGeom prst="roundRect">
            <a:avLst>
              <a:gd name="adj" fmla="val 39474"/>
            </a:avLst>
          </a:prstGeom>
          <a:solidFill>
            <a:srgbClr val="161B22"/>
          </a:solidFill>
          <a:ln w="25400">
            <a:solidFill>
              <a:srgbClr val="BF5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88720" y="310896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F5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CPU SCHEDULING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0" y="3108960"/>
            <a:ext cx="2194560" cy="347472"/>
          </a:xfrm>
          <a:prstGeom prst="roundRect">
            <a:avLst>
              <a:gd name="adj" fmla="val 39474"/>
            </a:avLst>
          </a:prstGeom>
          <a:solidFill>
            <a:srgbClr val="161B22"/>
          </a:solidFill>
          <a:ln w="25400">
            <a:solidFill>
              <a:srgbClr val="FFB8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0" y="310896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B8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MULTITHREADING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26480" y="3108960"/>
            <a:ext cx="2194560" cy="347472"/>
          </a:xfrm>
          <a:prstGeom prst="roundRect">
            <a:avLst>
              <a:gd name="adj" fmla="val 39474"/>
            </a:avLst>
          </a:prstGeom>
          <a:solidFill>
            <a:srgbClr val="161B22"/>
          </a:solidFill>
          <a:ln w="25400">
            <a:solidFill>
              <a:srgbClr val="39FF1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0" y="310896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9FF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LOAD BALANCING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595360" y="3108960"/>
            <a:ext cx="2194560" cy="347472"/>
          </a:xfrm>
          <a:prstGeom prst="roundRect">
            <a:avLst>
              <a:gd name="adj" fmla="val 39474"/>
            </a:avLst>
          </a:prstGeom>
          <a:solidFill>
            <a:srgbClr val="161B22"/>
          </a:solidFill>
          <a:ln w="25400">
            <a:solidFill>
              <a:srgbClr val="00D4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95360" y="310896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GEO-IP ROUTING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" y="374904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Youssef Eslam  |  Operating Systems  —  Summer 3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65760" y="6263640"/>
            <a:ext cx="114300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112745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 Overview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749808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Core Concepts — How They Connect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11274552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234440"/>
            <a:ext cx="2194560" cy="1463040"/>
          </a:xfrm>
          <a:prstGeom prst="roundRect">
            <a:avLst>
              <a:gd name="adj" fmla="val 625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234440"/>
            <a:ext cx="219456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4173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🌐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57200" y="192024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Client IP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Request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560320" y="1965960"/>
            <a:ext cx="640080" cy="0"/>
          </a:xfrm>
          <a:prstGeom prst="line">
            <a:avLst/>
          </a:prstGeom>
          <a:noFill/>
          <a:ln w="25400">
            <a:solidFill>
              <a:srgbClr val="00D4FF"/>
            </a:solidFill>
            <a:prstDash val="solid"/>
            <a:tailEnd type="arrow"/>
          </a:ln>
        </p:spPr>
      </p:sp>
      <p:sp>
        <p:nvSpPr>
          <p:cNvPr id="12" name="Shape 10"/>
          <p:cNvSpPr/>
          <p:nvPr/>
        </p:nvSpPr>
        <p:spPr>
          <a:xfrm>
            <a:off x="2834640" y="1234440"/>
            <a:ext cx="2194560" cy="1463040"/>
          </a:xfrm>
          <a:prstGeom prst="roundRect">
            <a:avLst>
              <a:gd name="adj" fmla="val 625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834640" y="1234440"/>
            <a:ext cx="2194560" cy="54864"/>
          </a:xfrm>
          <a:prstGeom prst="rect">
            <a:avLst/>
          </a:prstGeom>
          <a:solidFill>
            <a:srgbClr val="BF5FFF"/>
          </a:solidFill>
          <a:ln w="12700">
            <a:solidFill>
              <a:srgbClr val="BF5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834640" y="14173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📍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2926080" y="192024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Geo-IP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Locator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29200" y="1965960"/>
            <a:ext cx="640080" cy="0"/>
          </a:xfrm>
          <a:prstGeom prst="line">
            <a:avLst/>
          </a:prstGeom>
          <a:noFill/>
          <a:ln w="25400">
            <a:solidFill>
              <a:srgbClr val="00D4FF"/>
            </a:solidFill>
            <a:prstDash val="solid"/>
            <a:tailEnd type="arrow"/>
          </a:ln>
        </p:spPr>
      </p:sp>
      <p:sp>
        <p:nvSpPr>
          <p:cNvPr id="17" name="Shape 15"/>
          <p:cNvSpPr/>
          <p:nvPr/>
        </p:nvSpPr>
        <p:spPr>
          <a:xfrm>
            <a:off x="5303520" y="1234440"/>
            <a:ext cx="2194560" cy="1463040"/>
          </a:xfrm>
          <a:prstGeom prst="roundRect">
            <a:avLst>
              <a:gd name="adj" fmla="val 625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303520" y="1234440"/>
            <a:ext cx="2194560" cy="54864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03520" y="14173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⚖️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5394960" y="192024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Load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Balancer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498080" y="1965960"/>
            <a:ext cx="640080" cy="0"/>
          </a:xfrm>
          <a:prstGeom prst="line">
            <a:avLst/>
          </a:prstGeom>
          <a:noFill/>
          <a:ln w="25400">
            <a:solidFill>
              <a:srgbClr val="00D4FF"/>
            </a:solidFill>
            <a:prstDash val="solid"/>
            <a:tailEnd type="arrow"/>
          </a:ln>
        </p:spPr>
      </p:sp>
      <p:sp>
        <p:nvSpPr>
          <p:cNvPr id="22" name="Shape 20"/>
          <p:cNvSpPr/>
          <p:nvPr/>
        </p:nvSpPr>
        <p:spPr>
          <a:xfrm>
            <a:off x="7772400" y="1234440"/>
            <a:ext cx="2194560" cy="1463040"/>
          </a:xfrm>
          <a:prstGeom prst="roundRect">
            <a:avLst>
              <a:gd name="adj" fmla="val 625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772400" y="1234440"/>
            <a:ext cx="2194560" cy="54864"/>
          </a:xfrm>
          <a:prstGeom prst="rect">
            <a:avLst/>
          </a:prstGeom>
          <a:solidFill>
            <a:srgbClr val="39FF14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0" y="14173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🖥️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7863840" y="192024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Thread (VM)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65760" y="2971800"/>
            <a:ext cx="5623560" cy="1280160"/>
          </a:xfrm>
          <a:prstGeom prst="roundRect">
            <a:avLst>
              <a:gd name="adj" fmla="val 7143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5760" y="2971800"/>
            <a:ext cx="54864" cy="1280160"/>
          </a:xfrm>
          <a:prstGeom prst="rect">
            <a:avLst/>
          </a:prstGeom>
          <a:solidFill>
            <a:srgbClr val="BF5FFF"/>
          </a:solidFill>
          <a:ln w="12700">
            <a:solidFill>
              <a:srgbClr val="BF5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0352" y="3081528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F5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CPU Scheduling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30352" y="3410712"/>
            <a:ext cx="5212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Round Robin quantum — each task gets a turn on a server, cycling fairly across all VMs.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309360" y="2971800"/>
            <a:ext cx="5623560" cy="1280160"/>
          </a:xfrm>
          <a:prstGeom prst="roundRect">
            <a:avLst>
              <a:gd name="adj" fmla="val 7143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309360" y="2971800"/>
            <a:ext cx="54864" cy="1280160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73952" y="3081528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8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Multithreading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473952" y="3410712"/>
            <a:ext cx="5212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Each Virtual Machine (Server) runs as its own thread. Tasks run concurrently in parallel.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65760" y="4434840"/>
            <a:ext cx="5623560" cy="1280160"/>
          </a:xfrm>
          <a:prstGeom prst="roundRect">
            <a:avLst>
              <a:gd name="adj" fmla="val 7143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65760" y="4434840"/>
            <a:ext cx="54864" cy="128016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30352" y="4544568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Load Balancing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30352" y="4873752"/>
            <a:ext cx="5212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LoadBalancer.dispatch() assigns incoming tasks to servers using a Round Robin index rotation.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309360" y="4434840"/>
            <a:ext cx="5623560" cy="1280160"/>
          </a:xfrm>
          <a:prstGeom prst="roundRect">
            <a:avLst>
              <a:gd name="adj" fmla="val 7143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309360" y="4434840"/>
            <a:ext cx="54864" cy="1280160"/>
          </a:xfrm>
          <a:prstGeom prst="rect">
            <a:avLst/>
          </a:prstGeom>
          <a:solidFill>
            <a:srgbClr val="39FF14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73952" y="4544568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FF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IP Geolocation API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6473952" y="4873752"/>
            <a:ext cx="5212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GeoLocator.lookup(ip) calls ip-api.com and tags each task with its real-world city + country.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112745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Round Robin CPU Scheduling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749808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Fair time-slot rotation — each task gets a turn before any task gets a second turn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11274552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143000"/>
            <a:ext cx="5212080" cy="960120"/>
          </a:xfrm>
          <a:prstGeom prst="roundRect">
            <a:avLst>
              <a:gd name="adj" fmla="val 9524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207008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C4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⚙️  Core Idea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1490472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CPU (or Load Balancer) keeps a queue of tasks. It picks the next one, gives it a fixed time slot (quantum), then moves to the next — wrapping back to the start. No task monopolizes the resource.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852160" y="1188720"/>
            <a:ext cx="1664208" cy="347472"/>
          </a:xfrm>
          <a:prstGeom prst="roundRect">
            <a:avLst>
              <a:gd name="adj" fmla="val 26316"/>
            </a:avLst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52160" y="1188720"/>
            <a:ext cx="16642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Server-1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589520" y="1188720"/>
            <a:ext cx="1664208" cy="347472"/>
          </a:xfrm>
          <a:prstGeom prst="roundRect">
            <a:avLst>
              <a:gd name="adj" fmla="val 26316"/>
            </a:avLst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589520" y="1188720"/>
            <a:ext cx="16642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Server-2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326880" y="1188720"/>
            <a:ext cx="1664208" cy="347472"/>
          </a:xfrm>
          <a:prstGeom prst="roundRect">
            <a:avLst>
              <a:gd name="adj" fmla="val 26316"/>
            </a:avLst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326880" y="1188720"/>
            <a:ext cx="16642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Server-3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480560" y="1947672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Dispatch →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852160" y="1719072"/>
            <a:ext cx="1664208" cy="777240"/>
          </a:xfrm>
          <a:prstGeom prst="roundRect">
            <a:avLst>
              <a:gd name="adj" fmla="val 11765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852160" y="1719072"/>
            <a:ext cx="1664208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52160" y="1810512"/>
            <a:ext cx="1664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Task-1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852160" y="2121408"/>
            <a:ext cx="16642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1900 ms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589520" y="1719072"/>
            <a:ext cx="1664208" cy="777240"/>
          </a:xfrm>
          <a:prstGeom prst="roundRect">
            <a:avLst>
              <a:gd name="adj" fmla="val 11765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589520" y="1719072"/>
            <a:ext cx="1664208" cy="54864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589520" y="1810512"/>
            <a:ext cx="1664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B8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Task-2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589520" y="2121408"/>
            <a:ext cx="16642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711 ms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9326880" y="1719072"/>
            <a:ext cx="1664208" cy="777240"/>
          </a:xfrm>
          <a:prstGeom prst="roundRect">
            <a:avLst>
              <a:gd name="adj" fmla="val 11765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326880" y="1719072"/>
            <a:ext cx="1664208" cy="54864"/>
          </a:xfrm>
          <a:prstGeom prst="rect">
            <a:avLst/>
          </a:prstGeom>
          <a:solidFill>
            <a:srgbClr val="BF5FFF"/>
          </a:solidFill>
          <a:ln w="12700">
            <a:solidFill>
              <a:srgbClr val="BF5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326880" y="1810512"/>
            <a:ext cx="1664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F5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Task-3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326880" y="2121408"/>
            <a:ext cx="16642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538 ms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480560" y="2953512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Round 2 →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852160" y="2724912"/>
            <a:ext cx="1664208" cy="777240"/>
          </a:xfrm>
          <a:prstGeom prst="roundRect">
            <a:avLst>
              <a:gd name="adj" fmla="val 11765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52160" y="2724912"/>
            <a:ext cx="1664208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852160" y="2816352"/>
            <a:ext cx="1664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Task-1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852160" y="3127248"/>
            <a:ext cx="16642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1900 ms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7589520" y="2724912"/>
            <a:ext cx="1664208" cy="777240"/>
          </a:xfrm>
          <a:prstGeom prst="roundRect">
            <a:avLst>
              <a:gd name="adj" fmla="val 11765"/>
            </a:avLst>
          </a:prstGeom>
          <a:solidFill>
            <a:srgbClr val="111820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589520" y="2999232"/>
            <a:ext cx="16642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84F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IDLE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9326880" y="2724912"/>
            <a:ext cx="1664208" cy="777240"/>
          </a:xfrm>
          <a:prstGeom prst="roundRect">
            <a:avLst>
              <a:gd name="adj" fmla="val 11765"/>
            </a:avLst>
          </a:prstGeom>
          <a:solidFill>
            <a:srgbClr val="111820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326880" y="2999232"/>
            <a:ext cx="16642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84F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IDLE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480560" y="3959352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Round 3 →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852160" y="3730752"/>
            <a:ext cx="1664208" cy="777240"/>
          </a:xfrm>
          <a:prstGeom prst="roundRect">
            <a:avLst>
              <a:gd name="adj" fmla="val 11765"/>
            </a:avLst>
          </a:prstGeom>
          <a:solidFill>
            <a:srgbClr val="111820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852160" y="4005072"/>
            <a:ext cx="16642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84F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IDLE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7589520" y="3730752"/>
            <a:ext cx="1664208" cy="777240"/>
          </a:xfrm>
          <a:prstGeom prst="roundRect">
            <a:avLst>
              <a:gd name="adj" fmla="val 11765"/>
            </a:avLst>
          </a:prstGeom>
          <a:solidFill>
            <a:srgbClr val="111820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589520" y="4005072"/>
            <a:ext cx="16642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84F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IDLE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9326880" y="3730752"/>
            <a:ext cx="1664208" cy="777240"/>
          </a:xfrm>
          <a:prstGeom prst="roundRect">
            <a:avLst>
              <a:gd name="adj" fmla="val 11765"/>
            </a:avLst>
          </a:prstGeom>
          <a:solidFill>
            <a:srgbClr val="111820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326880" y="4005072"/>
            <a:ext cx="16642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84F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IDLE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365760" y="6309360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9F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✅  Actual run result:  Task-1 → S1 (1900ms)  |  Task-2 → S2 (711ms)  |  Task-3 → S3 (538ms)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112745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Round Robin — Pseudocode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749808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Matching the actual LoadBalancer.dispatch() logic in the Java code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11274552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143000"/>
            <a:ext cx="7498080" cy="4892040"/>
          </a:xfrm>
          <a:prstGeom prst="roundRect">
            <a:avLst>
              <a:gd name="adj" fmla="val 1869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43000"/>
            <a:ext cx="7498080" cy="256032"/>
          </a:xfrm>
          <a:prstGeom prst="round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1179576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pseudocode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21792" y="1444752"/>
            <a:ext cx="72237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State: integer index, starts at 0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21792" y="1705356"/>
            <a:ext cx="72237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F5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GLOBAL </a:t>
            </a:r>
            <a:pPr indent="0" marL="0">
              <a:buNone/>
            </a:pPr>
            <a:r>
              <a:rPr lang="en-US" sz="11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nextIndex ← 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21792" y="1965960"/>
            <a:ext cx="72237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21792" y="2226564"/>
            <a:ext cx="72237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F5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</a:t>
            </a:r>
            <a:pPr indent="0" marL="0">
              <a:buNone/>
            </a:pPr>
            <a:r>
              <a:rPr lang="en-US" sz="11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dispatch</a:t>
            </a:r>
            <a:pPr indent="0" marL="0">
              <a:buNone/>
            </a:pPr>
            <a:r>
              <a:rPr lang="en-US" sz="11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(task, servers[]):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21792" y="2487168"/>
            <a:ext cx="72237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index  ← nextIndex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21792" y="2747772"/>
            <a:ext cx="72237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server ← servers[index]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21792" y="3008376"/>
            <a:ext cx="72237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nextIndex ← (nextIndex + </a:t>
            </a:r>
            <a:pPr indent="0" marL="0">
              <a:buNone/>
            </a:pPr>
            <a:r>
              <a:rPr lang="en-US" sz="1100" dirty="0">
                <a:solidFill>
                  <a:srgbClr val="FFB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indent="0" marL="0">
              <a:buNone/>
            </a:pPr>
            <a:r>
              <a:rPr lang="en-US" sz="11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mod len(servers)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21792" y="3268980"/>
            <a:ext cx="72237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↑ wraps back to 0 after last server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21792" y="3529584"/>
            <a:ext cx="72237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 </a:t>
            </a:r>
            <a:pPr indent="0" marL="0">
              <a:buNone/>
            </a:pPr>
            <a:r>
              <a:rPr lang="en-US" sz="1100" dirty="0">
                <a:solidFill>
                  <a:srgbClr val="39F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"[LoadBalancer] Dispatching "</a:t>
            </a:r>
            <a:pPr indent="0" marL="0">
              <a:buNone/>
            </a:pPr>
            <a:r>
              <a:rPr lang="en-US" sz="11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+ task + </a:t>
            </a:r>
            <a:pPr indent="0" marL="0">
              <a:buNone/>
            </a:pPr>
            <a:r>
              <a:rPr lang="en-US" sz="1100" dirty="0">
                <a:solidFill>
                  <a:srgbClr val="39F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 → "</a:t>
            </a:r>
            <a:pPr indent="0" marL="0">
              <a:buNone/>
            </a:pPr>
            <a:r>
              <a:rPr lang="en-US" sz="11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+ server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21792" y="3790188"/>
            <a:ext cx="72237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server.assignTask</a:t>
            </a:r>
            <a:pPr indent="0" marL="0">
              <a:buNone/>
            </a:pPr>
            <a:r>
              <a:rPr lang="en-US" sz="11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(task)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21792" y="4050792"/>
            <a:ext cx="72237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F5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 FUNCTION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21792" y="4311396"/>
            <a:ext cx="72237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21792" y="4572000"/>
            <a:ext cx="72237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Thread-safe in Java:  AtomicInteger.getAndUpdate(i → (i+1) % servers.size())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229600" y="1828800"/>
            <a:ext cx="3749040" cy="594360"/>
          </a:xfrm>
          <a:prstGeom prst="roundRect">
            <a:avLst>
              <a:gd name="adj" fmla="val 15385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955280" y="2121408"/>
            <a:ext cx="274320" cy="0"/>
          </a:xfrm>
          <a:prstGeom prst="line">
            <a:avLst/>
          </a:prstGeom>
          <a:noFill/>
          <a:ln w="12700">
            <a:solidFill>
              <a:srgbClr val="8B949E"/>
            </a:solidFill>
            <a:prstDash val="solid"/>
            <a:tailEnd type="arrow"/>
          </a:ln>
        </p:spPr>
      </p:sp>
      <p:sp>
        <p:nvSpPr>
          <p:cNvPr id="25" name="Text 23"/>
          <p:cNvSpPr/>
          <p:nvPr/>
        </p:nvSpPr>
        <p:spPr>
          <a:xfrm>
            <a:off x="8321040" y="1901952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state is shared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across all calls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229600" y="2651760"/>
            <a:ext cx="3749040" cy="594360"/>
          </a:xfrm>
          <a:prstGeom prst="roundRect">
            <a:avLst>
              <a:gd name="adj" fmla="val 15385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955280" y="2944368"/>
            <a:ext cx="274320" cy="0"/>
          </a:xfrm>
          <a:prstGeom prst="line">
            <a:avLst/>
          </a:prstGeom>
          <a:noFill/>
          <a:ln w="12700">
            <a:solidFill>
              <a:srgbClr val="00D4FF"/>
            </a:solidFill>
            <a:prstDash val="solid"/>
            <a:tailEnd type="arrow"/>
          </a:ln>
        </p:spPr>
      </p:sp>
      <p:sp>
        <p:nvSpPr>
          <p:cNvPr id="28" name="Text 26"/>
          <p:cNvSpPr/>
          <p:nvPr/>
        </p:nvSpPr>
        <p:spPr>
          <a:xfrm>
            <a:off x="8321040" y="2724912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current server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chosen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229600" y="2926080"/>
            <a:ext cx="3749040" cy="594360"/>
          </a:xfrm>
          <a:prstGeom prst="roundRect">
            <a:avLst>
              <a:gd name="adj" fmla="val 15385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955280" y="3218688"/>
            <a:ext cx="274320" cy="0"/>
          </a:xfrm>
          <a:prstGeom prst="line">
            <a:avLst/>
          </a:prstGeom>
          <a:noFill/>
          <a:ln w="12700">
            <a:solidFill>
              <a:srgbClr val="F1C40F"/>
            </a:solidFill>
            <a:prstDash val="solid"/>
            <a:tailEnd type="arrow"/>
          </a:ln>
        </p:spPr>
      </p:sp>
      <p:sp>
        <p:nvSpPr>
          <p:cNvPr id="31" name="Text 29"/>
          <p:cNvSpPr/>
          <p:nvPr/>
        </p:nvSpPr>
        <p:spPr>
          <a:xfrm>
            <a:off x="8321040" y="2999232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C4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advance pointer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C4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&amp; wrap around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8229600" y="3931920"/>
            <a:ext cx="3749040" cy="594360"/>
          </a:xfrm>
          <a:prstGeom prst="roundRect">
            <a:avLst>
              <a:gd name="adj" fmla="val 15385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955280" y="4224528"/>
            <a:ext cx="274320" cy="0"/>
          </a:xfrm>
          <a:prstGeom prst="line">
            <a:avLst/>
          </a:prstGeom>
          <a:noFill/>
          <a:ln w="12700">
            <a:solidFill>
              <a:srgbClr val="39FF14"/>
            </a:solidFill>
            <a:prstDash val="solid"/>
            <a:tailEnd type="arrow"/>
          </a:ln>
        </p:spPr>
      </p:sp>
      <p:sp>
        <p:nvSpPr>
          <p:cNvPr id="34" name="Text 32"/>
          <p:cNvSpPr/>
          <p:nvPr/>
        </p:nvSpPr>
        <p:spPr>
          <a:xfrm>
            <a:off x="8321040" y="4005072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9FF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hand task to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9FF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server queue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8229600" y="5029200"/>
            <a:ext cx="3749040" cy="1600200"/>
          </a:xfrm>
          <a:prstGeom prst="roundRect">
            <a:avLst>
              <a:gd name="adj" fmla="val 5714"/>
            </a:avLst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229600" y="5029200"/>
            <a:ext cx="54864" cy="1600200"/>
          </a:xfrm>
          <a:prstGeom prst="rect">
            <a:avLst/>
          </a:prstGeom>
          <a:solidFill>
            <a:srgbClr val="F1C40F"/>
          </a:solidFill>
          <a:ln w="12700">
            <a:solidFill>
              <a:srgbClr val="F1C40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394192" y="510235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C4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Property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8394192" y="5394960"/>
            <a:ext cx="3474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O(1) dispatch — constant time regardless of how many servers or tasks exist. AtomicInteger makes it lock-free and thread-safe under high concurrency.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112745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Load Balancing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749808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Distributing incoming tasks fairly across all available Virtual Machine servers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11274552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937760" y="1920240"/>
            <a:ext cx="2286000" cy="1097280"/>
          </a:xfrm>
          <a:prstGeom prst="roundRect">
            <a:avLst>
              <a:gd name="adj" fmla="val 8333"/>
            </a:avLst>
          </a:prstGeom>
          <a:solidFill>
            <a:srgbClr val="091520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937760" y="1920240"/>
            <a:ext cx="2286000" cy="54864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0" y="20116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⚖️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4937760" y="250545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B8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LOAD BALANCER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240280"/>
            <a:ext cx="1828800" cy="640080"/>
          </a:xfrm>
          <a:prstGeom prst="roundRect">
            <a:avLst>
              <a:gd name="adj" fmla="val 14286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240280"/>
            <a:ext cx="54864" cy="64008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" y="2304288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📦 New Task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30352" y="2578608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burst: 983ms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from: Egypt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286000" y="2560320"/>
            <a:ext cx="2651760" cy="0"/>
          </a:xfrm>
          <a:prstGeom prst="line">
            <a:avLst/>
          </a:prstGeom>
          <a:noFill/>
          <a:ln w="25400">
            <a:solidFill>
              <a:srgbClr val="00D4FF"/>
            </a:solidFill>
            <a:prstDash val="solid"/>
            <a:tailEnd type="arrow"/>
          </a:ln>
        </p:spPr>
      </p:sp>
      <p:sp>
        <p:nvSpPr>
          <p:cNvPr id="16" name="Shape 14"/>
          <p:cNvSpPr/>
          <p:nvPr/>
        </p:nvSpPr>
        <p:spPr>
          <a:xfrm>
            <a:off x="9144000" y="1371600"/>
            <a:ext cx="2743200" cy="1097280"/>
          </a:xfrm>
          <a:prstGeom prst="roundRect">
            <a:avLst>
              <a:gd name="adj" fmla="val 8333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44000" y="1371600"/>
            <a:ext cx="27432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235440" y="14630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🖥️  Server-1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235440" y="1773936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tasks  |  busy: 5446ms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9235440" y="2057400"/>
            <a:ext cx="2560320" cy="164592"/>
          </a:xfrm>
          <a:prstGeom prst="rect">
            <a:avLst/>
          </a:prstGeom>
          <a:solidFill>
            <a:srgbClr val="484F5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235440" y="2057400"/>
            <a:ext cx="1536192" cy="16459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430000" y="2048256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60%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223760" y="1920240"/>
            <a:ext cx="1920240" cy="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  <a:tailEnd type="arrow"/>
          </a:ln>
        </p:spPr>
      </p:sp>
      <p:sp>
        <p:nvSpPr>
          <p:cNvPr id="24" name="Shape 22"/>
          <p:cNvSpPr/>
          <p:nvPr/>
        </p:nvSpPr>
        <p:spPr>
          <a:xfrm>
            <a:off x="9144000" y="2788920"/>
            <a:ext cx="2743200" cy="1097280"/>
          </a:xfrm>
          <a:prstGeom prst="roundRect">
            <a:avLst>
              <a:gd name="adj" fmla="val 8333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144000" y="2788920"/>
            <a:ext cx="2743200" cy="54864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235440" y="28803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B8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🖥️  Server-2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235440" y="3191256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tasks  |  busy: 3024ms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9235440" y="3474720"/>
            <a:ext cx="2560320" cy="164592"/>
          </a:xfrm>
          <a:prstGeom prst="rect">
            <a:avLst/>
          </a:prstGeom>
          <a:solidFill>
            <a:srgbClr val="484F5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235440" y="3474720"/>
            <a:ext cx="896112" cy="164592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1430000" y="3465576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B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35%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223760" y="3337560"/>
            <a:ext cx="1920240" cy="0"/>
          </a:xfrm>
          <a:prstGeom prst="line">
            <a:avLst/>
          </a:prstGeom>
          <a:noFill/>
          <a:ln w="19050">
            <a:solidFill>
              <a:srgbClr val="FFB800"/>
            </a:solidFill>
            <a:prstDash val="solid"/>
            <a:tailEnd type="arrow"/>
          </a:ln>
        </p:spPr>
      </p:sp>
      <p:sp>
        <p:nvSpPr>
          <p:cNvPr id="32" name="Shape 30"/>
          <p:cNvSpPr/>
          <p:nvPr/>
        </p:nvSpPr>
        <p:spPr>
          <a:xfrm>
            <a:off x="9144000" y="4206240"/>
            <a:ext cx="2743200" cy="1097280"/>
          </a:xfrm>
          <a:prstGeom prst="roundRect">
            <a:avLst>
              <a:gd name="adj" fmla="val 8333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144000" y="4206240"/>
            <a:ext cx="2743200" cy="54864"/>
          </a:xfrm>
          <a:prstGeom prst="rect">
            <a:avLst/>
          </a:prstGeom>
          <a:solidFill>
            <a:srgbClr val="39FF14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235440" y="42976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9FF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🖥️  Server-3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9235440" y="4608576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tasks  |  busy: 2957ms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9235440" y="4892040"/>
            <a:ext cx="2560320" cy="164592"/>
          </a:xfrm>
          <a:prstGeom prst="rect">
            <a:avLst/>
          </a:prstGeom>
          <a:solidFill>
            <a:srgbClr val="484F5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235440" y="4892040"/>
            <a:ext cx="870509" cy="164592"/>
          </a:xfrm>
          <a:prstGeom prst="rect">
            <a:avLst/>
          </a:prstGeom>
          <a:solidFill>
            <a:srgbClr val="39FF14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1430000" y="4882896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9F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34%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7223760" y="4754880"/>
            <a:ext cx="1920240" cy="0"/>
          </a:xfrm>
          <a:prstGeom prst="line">
            <a:avLst/>
          </a:prstGeom>
          <a:noFill/>
          <a:ln w="19050">
            <a:solidFill>
              <a:srgbClr val="39FF14"/>
            </a:solidFill>
            <a:prstDash val="solid"/>
            <a:tailEnd type="arrow"/>
          </a:ln>
        </p:spPr>
      </p:sp>
      <p:sp>
        <p:nvSpPr>
          <p:cNvPr id="40" name="Text 38"/>
          <p:cNvSpPr/>
          <p:nvPr/>
        </p:nvSpPr>
        <p:spPr>
          <a:xfrm>
            <a:off x="7223760" y="315468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1C4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Round Robin →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365760" y="6309360"/>
            <a:ext cx="1179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9F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Real results: Server-1 → 4 tasks (5446ms total)  |  Server-2 → 3 tasks (3024ms)  |  Server-3 → 3 tasks (2957ms)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112745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Load Balancing — Pseudocode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749808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 pipeline: task creation → geo-lookup → dispatch → server assignment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11274552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143000"/>
            <a:ext cx="7589520" cy="5440680"/>
          </a:xfrm>
          <a:prstGeom prst="roundRect">
            <a:avLst>
              <a:gd name="adj" fmla="val 1681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143000"/>
            <a:ext cx="7589520" cy="256032"/>
          </a:xfrm>
          <a:prstGeom prst="round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1179576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pseudocode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30352" y="1444752"/>
            <a:ext cx="7315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TaskGenerator thread — produces tasks every 200-800ms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30352" y="1705356"/>
            <a:ext cx="7315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F5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</a:t>
            </a:r>
            <a:pPr indent="0" marL="0">
              <a:buNone/>
            </a:pPr>
            <a:r>
              <a:rPr lang="en-US" sz="11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← 1 </a:t>
            </a:r>
            <a:pPr indent="0" marL="0">
              <a:buNone/>
            </a:pPr>
            <a:r>
              <a:rPr lang="en-US" sz="1100" b="1" dirty="0">
                <a:solidFill>
                  <a:srgbClr val="BF5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 </a:t>
            </a:r>
            <a:pPr indent="0" marL="0">
              <a:buNone/>
            </a:pPr>
            <a:r>
              <a:rPr lang="en-US" sz="1100" dirty="0">
                <a:solidFill>
                  <a:srgbClr val="FFB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numTasks</a:t>
            </a:r>
            <a:pPr indent="0" marL="0">
              <a:buNone/>
            </a:pPr>
            <a:r>
              <a:rPr lang="en-US" sz="11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30352" y="1965960"/>
            <a:ext cx="7315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burstTime ← random(</a:t>
            </a:r>
            <a:pPr indent="0" marL="0">
              <a:buNone/>
            </a:pPr>
            <a:r>
              <a:rPr lang="en-US" sz="1100" dirty="0">
                <a:solidFill>
                  <a:srgbClr val="FFB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500</a:t>
            </a:r>
            <a:pPr indent="0" marL="0">
              <a:buNone/>
            </a:pPr>
            <a:r>
              <a:rPr lang="en-US" sz="11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100" dirty="0">
                <a:solidFill>
                  <a:srgbClr val="FFB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2000</a:t>
            </a:r>
            <a:pPr indent="0" marL="0">
              <a:buNone/>
            </a:pPr>
            <a:r>
              <a:rPr lang="en-US" sz="11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30352" y="2226564"/>
            <a:ext cx="7315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task      ← </a:t>
            </a:r>
            <a:pPr indent="0" marL="0">
              <a:buNone/>
            </a:pPr>
            <a:r>
              <a:rPr lang="en-US" sz="1100" b="1" dirty="0">
                <a:solidFill>
                  <a:srgbClr val="BF5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pPr indent="0" marL="0">
              <a:buNone/>
            </a:pPr>
            <a:r>
              <a:rPr lang="en-US" sz="11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Task(burstTime)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30352" y="2487168"/>
            <a:ext cx="7315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ip        ← randomSample(SAMPLE_IPS)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30352" y="2747772"/>
            <a:ext cx="7315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location  ← </a:t>
            </a:r>
            <a:pPr indent="0" marL="0">
              <a:buNone/>
            </a:pPr>
            <a:r>
              <a:rPr lang="en-US" sz="11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GeoLocator.lookup</a:t>
            </a:r>
            <a:pPr indent="0" marL="0">
              <a:buNone/>
            </a:pPr>
            <a:r>
              <a:rPr lang="en-US" sz="11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(ip)</a:t>
            </a:r>
            <a:pPr indent="0" marL="0">
              <a:buNone/>
            </a:pPr>
            <a:r>
              <a:rPr lang="en-US" sz="110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// HTTP GET → ip-api.com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30352" y="3008376"/>
            <a:ext cx="7315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task.origin ← location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30352" y="3268980"/>
            <a:ext cx="7315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loadBalancer.dispatch</a:t>
            </a:r>
            <a:pPr indent="0" marL="0">
              <a:buNone/>
            </a:pPr>
            <a:r>
              <a:rPr lang="en-US" sz="11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(task)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30352" y="3529584"/>
            <a:ext cx="7315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100" b="1" dirty="0">
                <a:solidFill>
                  <a:srgbClr val="BF5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SLEEP</a:t>
            </a:r>
            <a:pPr indent="0" marL="0">
              <a:buNone/>
            </a:pPr>
            <a:r>
              <a:rPr lang="en-US" sz="11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random(</a:t>
            </a:r>
            <a:pPr indent="0" marL="0">
              <a:buNone/>
            </a:pPr>
            <a:r>
              <a:rPr lang="en-US" sz="1100" dirty="0">
                <a:solidFill>
                  <a:srgbClr val="FFB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200</a:t>
            </a:r>
            <a:pPr indent="0" marL="0">
              <a:buNone/>
            </a:pPr>
            <a:r>
              <a:rPr lang="en-US" sz="11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100" dirty="0">
                <a:solidFill>
                  <a:srgbClr val="FFB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800</a:t>
            </a:r>
            <a:pPr indent="0" marL="0">
              <a:buNone/>
            </a:pPr>
            <a:r>
              <a:rPr lang="en-US" sz="11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30352" y="3790188"/>
            <a:ext cx="7315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30352" y="4050792"/>
            <a:ext cx="7315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Server thread — consumes tasks from its BlockingQueue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30352" y="4311396"/>
            <a:ext cx="7315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F5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LOOP WHILE </a:t>
            </a:r>
            <a:pPr indent="0" marL="0">
              <a:buNone/>
            </a:pPr>
            <a:r>
              <a:rPr lang="en-US" sz="11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running: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30352" y="4572000"/>
            <a:ext cx="7315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task ← </a:t>
            </a:r>
            <a:pPr indent="0" marL="0">
              <a:buNone/>
            </a:pPr>
            <a:r>
              <a:rPr lang="en-US" sz="11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taskQueue.take</a:t>
            </a:r>
            <a:pPr indent="0" marL="0">
              <a:buNone/>
            </a:pPr>
            <a:r>
              <a:rPr lang="en-US" sz="11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pPr indent="0" marL="0">
              <a:buNone/>
            </a:pPr>
            <a:r>
              <a:rPr lang="en-US" sz="110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// blocks until a task arrives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30352" y="4832604"/>
            <a:ext cx="7315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 </a:t>
            </a:r>
            <a:pPr indent="0" marL="0">
              <a:buNone/>
            </a:pPr>
            <a:r>
              <a:rPr lang="en-US" sz="1100" dirty="0">
                <a:solidFill>
                  <a:srgbClr val="39F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"[Server-N] processing "</a:t>
            </a:r>
            <a:pPr indent="0" marL="0">
              <a:buNone/>
            </a:pPr>
            <a:r>
              <a:rPr lang="en-US" sz="11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+ task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30352" y="5093208"/>
            <a:ext cx="7315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F5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SLEEP</a:t>
            </a:r>
            <a:pPr indent="0" marL="0">
              <a:buNone/>
            </a:pPr>
            <a:r>
              <a:rPr lang="en-US" sz="11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(task.burstTime)</a:t>
            </a:r>
            <a:pPr indent="0" marL="0">
              <a:buNone/>
            </a:pPr>
            <a:r>
              <a:rPr lang="en-US" sz="110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// simulate CPU work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30352" y="5353812"/>
            <a:ext cx="7315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tasksCompleted ← tasksCompleted + </a:t>
            </a:r>
            <a:pPr indent="0" marL="0">
              <a:buNone/>
            </a:pPr>
            <a:r>
              <a:rPr lang="en-US" sz="1100" dirty="0">
                <a:solidFill>
                  <a:srgbClr val="FFB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30352" y="5614416"/>
            <a:ext cx="7315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totalBusyTime  ← totalBusyTime  + task.burstTime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229600" y="1463040"/>
            <a:ext cx="3749040" cy="548640"/>
          </a:xfrm>
          <a:prstGeom prst="roundRect">
            <a:avLst>
              <a:gd name="adj" fmla="val 16667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955280" y="1737360"/>
            <a:ext cx="274320" cy="0"/>
          </a:xfrm>
          <a:prstGeom prst="line">
            <a:avLst/>
          </a:prstGeom>
          <a:noFill/>
          <a:ln w="12700">
            <a:solidFill>
              <a:srgbClr val="FFB800"/>
            </a:solidFill>
            <a:prstDash val="solid"/>
            <a:tailEnd type="arrow"/>
          </a:ln>
        </p:spPr>
      </p:sp>
      <p:sp>
        <p:nvSpPr>
          <p:cNvPr id="29" name="Text 27"/>
          <p:cNvSpPr/>
          <p:nvPr/>
        </p:nvSpPr>
        <p:spPr>
          <a:xfrm>
            <a:off x="8321040" y="1536192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B8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Producer thread: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B8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generates bursts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229600" y="2377440"/>
            <a:ext cx="3749040" cy="548640"/>
          </a:xfrm>
          <a:prstGeom prst="roundRect">
            <a:avLst>
              <a:gd name="adj" fmla="val 16667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955280" y="2651760"/>
            <a:ext cx="274320" cy="0"/>
          </a:xfrm>
          <a:prstGeom prst="line">
            <a:avLst/>
          </a:prstGeom>
          <a:noFill/>
          <a:ln w="12700">
            <a:solidFill>
              <a:srgbClr val="BF5FFF"/>
            </a:solidFill>
            <a:prstDash val="solid"/>
            <a:tailEnd type="arrow"/>
          </a:ln>
        </p:spPr>
      </p:sp>
      <p:sp>
        <p:nvSpPr>
          <p:cNvPr id="32" name="Text 30"/>
          <p:cNvSpPr/>
          <p:nvPr/>
        </p:nvSpPr>
        <p:spPr>
          <a:xfrm>
            <a:off x="8321040" y="2450592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F5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 HTTP call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F5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 ip-api.com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8229600" y="2971800"/>
            <a:ext cx="3749040" cy="548640"/>
          </a:xfrm>
          <a:prstGeom prst="roundRect">
            <a:avLst>
              <a:gd name="adj" fmla="val 16667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955280" y="3246120"/>
            <a:ext cx="274320" cy="0"/>
          </a:xfrm>
          <a:prstGeom prst="line">
            <a:avLst/>
          </a:prstGeom>
          <a:noFill/>
          <a:ln w="12700">
            <a:solidFill>
              <a:srgbClr val="00D4FF"/>
            </a:solidFill>
            <a:prstDash val="solid"/>
            <a:tailEnd type="arrow"/>
          </a:ln>
        </p:spPr>
      </p:sp>
      <p:sp>
        <p:nvSpPr>
          <p:cNvPr id="35" name="Text 33"/>
          <p:cNvSpPr/>
          <p:nvPr/>
        </p:nvSpPr>
        <p:spPr>
          <a:xfrm>
            <a:off x="8321040" y="3044952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Round Robin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dispatch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8229600" y="4114800"/>
            <a:ext cx="3749040" cy="548640"/>
          </a:xfrm>
          <a:prstGeom prst="roundRect">
            <a:avLst>
              <a:gd name="adj" fmla="val 16667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955280" y="4389120"/>
            <a:ext cx="274320" cy="0"/>
          </a:xfrm>
          <a:prstGeom prst="line">
            <a:avLst/>
          </a:prstGeom>
          <a:noFill/>
          <a:ln w="12700">
            <a:solidFill>
              <a:srgbClr val="39FF14"/>
            </a:solidFill>
            <a:prstDash val="solid"/>
            <a:tailEnd type="arrow"/>
          </a:ln>
        </p:spPr>
      </p:sp>
      <p:sp>
        <p:nvSpPr>
          <p:cNvPr id="38" name="Text 36"/>
          <p:cNvSpPr/>
          <p:nvPr/>
        </p:nvSpPr>
        <p:spPr>
          <a:xfrm>
            <a:off x="8321040" y="4187952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9FF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Consumer thread: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9FF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Blocking queue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8229600" y="5394960"/>
            <a:ext cx="3749040" cy="548640"/>
          </a:xfrm>
          <a:prstGeom prst="roundRect">
            <a:avLst>
              <a:gd name="adj" fmla="val 16667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955280" y="5669280"/>
            <a:ext cx="274320" cy="0"/>
          </a:xfrm>
          <a:prstGeom prst="line">
            <a:avLst/>
          </a:prstGeom>
          <a:noFill/>
          <a:ln w="12700">
            <a:solidFill>
              <a:srgbClr val="F1C40F"/>
            </a:solidFill>
            <a:prstDash val="solid"/>
            <a:tailEnd type="arrow"/>
          </a:ln>
        </p:spPr>
      </p:sp>
      <p:sp>
        <p:nvSpPr>
          <p:cNvPr id="41" name="Text 39"/>
          <p:cNvSpPr/>
          <p:nvPr/>
        </p:nvSpPr>
        <p:spPr>
          <a:xfrm>
            <a:off x="8321040" y="5468112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C4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Thread.sleep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C4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simulates work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112745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Multithreading Implementation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749808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Each VM Server = an independent Java Thread running concurrently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11274552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188720"/>
            <a:ext cx="3017520" cy="960120"/>
          </a:xfrm>
          <a:prstGeom prst="roundRect">
            <a:avLst>
              <a:gd name="adj" fmla="val 9524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188720"/>
            <a:ext cx="54864" cy="960120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" y="12618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⚙️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41248" y="1298448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B8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TaskGenerator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B8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Thread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41248" y="175564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 Thread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474720" y="1298448"/>
            <a:ext cx="8229600" cy="758952"/>
          </a:xfrm>
          <a:prstGeom prst="rect">
            <a:avLst/>
          </a:prstGeom>
          <a:solidFill>
            <a:srgbClr val="0A1220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66160" y="14630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B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generates tasks every 200–800ms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2240280"/>
            <a:ext cx="3017520" cy="960120"/>
          </a:xfrm>
          <a:prstGeom prst="roundRect">
            <a:avLst>
              <a:gd name="adj" fmla="val 9524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2240280"/>
            <a:ext cx="54864" cy="9601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7472" y="23134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🖥️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41248" y="2350008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Server-1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Thread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41248" y="280720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 Thread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474720" y="2350008"/>
            <a:ext cx="8229600" cy="758952"/>
          </a:xfrm>
          <a:prstGeom prst="rect">
            <a:avLst/>
          </a:prstGeom>
          <a:solidFill>
            <a:srgbClr val="0A1220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474720" y="2368296"/>
            <a:ext cx="365760" cy="722376"/>
          </a:xfrm>
          <a:prstGeom prst="roundRect">
            <a:avLst>
              <a:gd name="adj" fmla="val 10000"/>
            </a:avLst>
          </a:prstGeom>
          <a:solidFill>
            <a:srgbClr val="003D4D"/>
          </a:solidFill>
          <a:ln w="19050">
            <a:solidFill>
              <a:srgbClr val="00D4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75749" y="2368296"/>
            <a:ext cx="365760" cy="722376"/>
          </a:xfrm>
          <a:prstGeom prst="roundRect">
            <a:avLst>
              <a:gd name="adj" fmla="val 10000"/>
            </a:avLst>
          </a:prstGeom>
          <a:solidFill>
            <a:srgbClr val="003D4D"/>
          </a:solidFill>
          <a:ln w="19050">
            <a:solidFill>
              <a:srgbClr val="00D4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479864" y="2368296"/>
            <a:ext cx="365760" cy="722376"/>
          </a:xfrm>
          <a:prstGeom prst="roundRect">
            <a:avLst>
              <a:gd name="adj" fmla="val 10000"/>
            </a:avLst>
          </a:prstGeom>
          <a:solidFill>
            <a:srgbClr val="003D4D"/>
          </a:solidFill>
          <a:ln w="19050">
            <a:solidFill>
              <a:srgbClr val="00D4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487064" y="2368296"/>
            <a:ext cx="365760" cy="722376"/>
          </a:xfrm>
          <a:prstGeom prst="roundRect">
            <a:avLst>
              <a:gd name="adj" fmla="val 10000"/>
            </a:avLst>
          </a:prstGeom>
          <a:solidFill>
            <a:srgbClr val="003D4D"/>
          </a:solidFill>
          <a:ln w="19050">
            <a:solidFill>
              <a:srgbClr val="00D4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4320" y="3291840"/>
            <a:ext cx="3017520" cy="960120"/>
          </a:xfrm>
          <a:prstGeom prst="roundRect">
            <a:avLst>
              <a:gd name="adj" fmla="val 9524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74320" y="3291840"/>
            <a:ext cx="54864" cy="960120"/>
          </a:xfrm>
          <a:prstGeom prst="rect">
            <a:avLst/>
          </a:prstGeom>
          <a:solidFill>
            <a:srgbClr val="BF5FFF"/>
          </a:solidFill>
          <a:ln w="12700">
            <a:solidFill>
              <a:srgbClr val="BF5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" y="33649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🖥️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841248" y="3401568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F5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Server-2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BF5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Thread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41248" y="385876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 Thread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474720" y="3401568"/>
            <a:ext cx="8229600" cy="758952"/>
          </a:xfrm>
          <a:prstGeom prst="rect">
            <a:avLst/>
          </a:prstGeom>
          <a:solidFill>
            <a:srgbClr val="0A1220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474720" y="3419856"/>
            <a:ext cx="365760" cy="722376"/>
          </a:xfrm>
          <a:prstGeom prst="roundRect">
            <a:avLst>
              <a:gd name="adj" fmla="val 10000"/>
            </a:avLst>
          </a:prstGeom>
          <a:solidFill>
            <a:srgbClr val="2D0066"/>
          </a:solidFill>
          <a:ln w="19050">
            <a:solidFill>
              <a:srgbClr val="BF5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476777" y="3419856"/>
            <a:ext cx="365760" cy="722376"/>
          </a:xfrm>
          <a:prstGeom prst="roundRect">
            <a:avLst>
              <a:gd name="adj" fmla="val 10000"/>
            </a:avLst>
          </a:prstGeom>
          <a:solidFill>
            <a:srgbClr val="2D0066"/>
          </a:solidFill>
          <a:ln w="19050">
            <a:solidFill>
              <a:srgbClr val="BF5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481921" y="3419856"/>
            <a:ext cx="365760" cy="722376"/>
          </a:xfrm>
          <a:prstGeom prst="roundRect">
            <a:avLst>
              <a:gd name="adj" fmla="val 10000"/>
            </a:avLst>
          </a:prstGeom>
          <a:solidFill>
            <a:srgbClr val="2D0066"/>
          </a:solidFill>
          <a:ln w="19050">
            <a:solidFill>
              <a:srgbClr val="BF5F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74320" y="4343400"/>
            <a:ext cx="3017520" cy="960120"/>
          </a:xfrm>
          <a:prstGeom prst="roundRect">
            <a:avLst>
              <a:gd name="adj" fmla="val 9524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74320" y="4343400"/>
            <a:ext cx="54864" cy="960120"/>
          </a:xfrm>
          <a:prstGeom prst="rect">
            <a:avLst/>
          </a:prstGeom>
          <a:solidFill>
            <a:srgbClr val="39FF14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47472" y="44165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🖥️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841248" y="4453128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9FF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Server-3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39FF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Thread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841248" y="491032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 Thread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474720" y="4453128"/>
            <a:ext cx="8229600" cy="758952"/>
          </a:xfrm>
          <a:prstGeom prst="rect">
            <a:avLst/>
          </a:prstGeom>
          <a:solidFill>
            <a:srgbClr val="0A1220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474720" y="4471416"/>
            <a:ext cx="365760" cy="722376"/>
          </a:xfrm>
          <a:prstGeom prst="roundRect">
            <a:avLst>
              <a:gd name="adj" fmla="val 10000"/>
            </a:avLst>
          </a:prstGeom>
          <a:solidFill>
            <a:srgbClr val="0D3D00"/>
          </a:solidFill>
          <a:ln w="19050">
            <a:solidFill>
              <a:srgbClr val="39FF14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477806" y="4471416"/>
            <a:ext cx="365760" cy="722376"/>
          </a:xfrm>
          <a:prstGeom prst="roundRect">
            <a:avLst>
              <a:gd name="adj" fmla="val 10000"/>
            </a:avLst>
          </a:prstGeom>
          <a:solidFill>
            <a:srgbClr val="0D3D00"/>
          </a:solidFill>
          <a:ln w="19050">
            <a:solidFill>
              <a:srgbClr val="39FF14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483978" y="4471416"/>
            <a:ext cx="365760" cy="722376"/>
          </a:xfrm>
          <a:prstGeom prst="roundRect">
            <a:avLst>
              <a:gd name="adj" fmla="val 10000"/>
            </a:avLst>
          </a:prstGeom>
          <a:solidFill>
            <a:srgbClr val="0D3D00"/>
          </a:solidFill>
          <a:ln w="19050">
            <a:solidFill>
              <a:srgbClr val="39FF14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474720" y="5349240"/>
            <a:ext cx="0" cy="18288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246120" y="55321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0ms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5532120" y="5349240"/>
            <a:ext cx="0" cy="18288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303520" y="55321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2000ms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7589520" y="5349240"/>
            <a:ext cx="0" cy="18288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360920" y="55321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4000ms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9646920" y="5349240"/>
            <a:ext cx="0" cy="18288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418320" y="55321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6000ms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11704320" y="5349240"/>
            <a:ext cx="0" cy="18288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1475720" y="55321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8000ms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274320" y="5806440"/>
            <a:ext cx="11612880" cy="777240"/>
          </a:xfrm>
          <a:prstGeom prst="roundRect">
            <a:avLst>
              <a:gd name="adj" fmla="val 11765"/>
            </a:avLst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57200" y="5870448"/>
            <a:ext cx="3794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🔒 BlockingQueue — thread-safe task handoff; server blocks until a task arrives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4389120" y="5870448"/>
            <a:ext cx="3794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⚡ volatile boolean running — safe cross-thread shutdown signal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8321040" y="5870448"/>
            <a:ext cx="3794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🔗 Thread.join() — main thread waits for all servers to finish before printing summary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112745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IP Geolocation API Integration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749808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 HTTP calls to ip-api.com — tagging each task with its geographic origin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11274552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188720"/>
            <a:ext cx="2103120" cy="1371600"/>
          </a:xfrm>
          <a:prstGeom prst="roundRect">
            <a:avLst>
              <a:gd name="adj" fmla="val 6667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188720"/>
            <a:ext cx="210312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335024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🌐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65760" y="1810512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Client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IP Address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2231136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e.g. 196.219.0.1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423160" y="1874520"/>
            <a:ext cx="502920" cy="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  <a:tailEnd type="arrow"/>
          </a:ln>
        </p:spPr>
      </p:sp>
      <p:sp>
        <p:nvSpPr>
          <p:cNvPr id="13" name="Shape 11"/>
          <p:cNvSpPr/>
          <p:nvPr/>
        </p:nvSpPr>
        <p:spPr>
          <a:xfrm>
            <a:off x="2606040" y="1188720"/>
            <a:ext cx="2103120" cy="1371600"/>
          </a:xfrm>
          <a:prstGeom prst="roundRect">
            <a:avLst>
              <a:gd name="adj" fmla="val 6667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606040" y="1188720"/>
            <a:ext cx="2103120" cy="54864"/>
          </a:xfrm>
          <a:prstGeom prst="rect">
            <a:avLst/>
          </a:prstGeom>
          <a:solidFill>
            <a:srgbClr val="BF5FFF"/>
          </a:solidFill>
          <a:ln w="12700">
            <a:solidFill>
              <a:srgbClr val="BF5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06040" y="1335024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🔗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2651760" y="1810512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F5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HTTP GET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BF5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ip-api.com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651760" y="2231136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sec timeout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709160" y="1874520"/>
            <a:ext cx="502920" cy="0"/>
          </a:xfrm>
          <a:prstGeom prst="line">
            <a:avLst/>
          </a:prstGeom>
          <a:noFill/>
          <a:ln w="19050">
            <a:solidFill>
              <a:srgbClr val="BF5FFF"/>
            </a:solidFill>
            <a:prstDash val="solid"/>
            <a:tailEnd type="arrow"/>
          </a:ln>
        </p:spPr>
      </p:sp>
      <p:sp>
        <p:nvSpPr>
          <p:cNvPr id="19" name="Shape 17"/>
          <p:cNvSpPr/>
          <p:nvPr/>
        </p:nvSpPr>
        <p:spPr>
          <a:xfrm>
            <a:off x="4892040" y="1188720"/>
            <a:ext cx="2103120" cy="1371600"/>
          </a:xfrm>
          <a:prstGeom prst="roundRect">
            <a:avLst>
              <a:gd name="adj" fmla="val 6667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92040" y="1188720"/>
            <a:ext cx="2103120" cy="54864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1335024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📄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4937760" y="1810512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B8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JSON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B8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Response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937760" y="2231136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{"city":…}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995160" y="1874520"/>
            <a:ext cx="502920" cy="0"/>
          </a:xfrm>
          <a:prstGeom prst="line">
            <a:avLst/>
          </a:prstGeom>
          <a:noFill/>
          <a:ln w="19050">
            <a:solidFill>
              <a:srgbClr val="FFB800"/>
            </a:solidFill>
            <a:prstDash val="solid"/>
            <a:tailEnd type="arrow"/>
          </a:ln>
        </p:spPr>
      </p:sp>
      <p:sp>
        <p:nvSpPr>
          <p:cNvPr id="25" name="Shape 23"/>
          <p:cNvSpPr/>
          <p:nvPr/>
        </p:nvSpPr>
        <p:spPr>
          <a:xfrm>
            <a:off x="7178040" y="1188720"/>
            <a:ext cx="2103120" cy="1371600"/>
          </a:xfrm>
          <a:prstGeom prst="roundRect">
            <a:avLst>
              <a:gd name="adj" fmla="val 6667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178040" y="1188720"/>
            <a:ext cx="2103120" cy="54864"/>
          </a:xfrm>
          <a:prstGeom prst="rect">
            <a:avLst/>
          </a:prstGeom>
          <a:solidFill>
            <a:srgbClr val="39FF14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178040" y="1335024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📍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7223760" y="1810512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9FF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Parsed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39FF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Location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223760" y="2231136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6th of Oct, Egypt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9281160" y="1874520"/>
            <a:ext cx="502920" cy="0"/>
          </a:xfrm>
          <a:prstGeom prst="line">
            <a:avLst/>
          </a:prstGeom>
          <a:noFill/>
          <a:ln w="19050">
            <a:solidFill>
              <a:srgbClr val="39FF14"/>
            </a:solidFill>
            <a:prstDash val="solid"/>
            <a:tailEnd type="arrow"/>
          </a:ln>
        </p:spPr>
      </p:sp>
      <p:sp>
        <p:nvSpPr>
          <p:cNvPr id="31" name="Shape 29"/>
          <p:cNvSpPr/>
          <p:nvPr/>
        </p:nvSpPr>
        <p:spPr>
          <a:xfrm>
            <a:off x="9464040" y="1188720"/>
            <a:ext cx="2103120" cy="1371600"/>
          </a:xfrm>
          <a:prstGeom prst="roundRect">
            <a:avLst>
              <a:gd name="adj" fmla="val 6667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464040" y="1188720"/>
            <a:ext cx="210312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464040" y="1335024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📦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9509760" y="1810512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Task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tagged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9509760" y="2231136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task.origin = …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20040" y="2834640"/>
            <a:ext cx="11521440" cy="347472"/>
          </a:xfrm>
          <a:prstGeom prst="roundRect">
            <a:avLst>
              <a:gd name="adj" fmla="val 26316"/>
            </a:avLst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2871216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Sample IP Pool used in simulation: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65760" y="3291840"/>
            <a:ext cx="3657600" cy="1097280"/>
          </a:xfrm>
          <a:prstGeom prst="roundRect">
            <a:avLst>
              <a:gd name="adj" fmla="val 8333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65760" y="3291840"/>
            <a:ext cx="54864" cy="1097280"/>
          </a:xfrm>
          <a:prstGeom prst="rect">
            <a:avLst/>
          </a:prstGeom>
          <a:solidFill>
            <a:srgbClr val="007A94"/>
          </a:solidFill>
          <a:ln w="12700">
            <a:solidFill>
              <a:srgbClr val="007A9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93776" y="338328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🇺🇸  8.8.8.8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93776" y="3712464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9FF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 Ashburn, US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93776" y="4005072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lookup via ip-api.com (free, no key)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4206240" y="3291840"/>
            <a:ext cx="3657600" cy="1097280"/>
          </a:xfrm>
          <a:prstGeom prst="roundRect">
            <a:avLst>
              <a:gd name="adj" fmla="val 8333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206240" y="3291840"/>
            <a:ext cx="54864" cy="1097280"/>
          </a:xfrm>
          <a:prstGeom prst="rect">
            <a:avLst/>
          </a:prstGeom>
          <a:solidFill>
            <a:srgbClr val="007A94"/>
          </a:solidFill>
          <a:ln w="12700">
            <a:solidFill>
              <a:srgbClr val="007A9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334256" y="338328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🇺🇸  1.1.1.1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4334256" y="3712464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9FF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 Ashburn, US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334256" y="4005072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lookup via ip-api.com (free, no key)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8046720" y="3291840"/>
            <a:ext cx="3657600" cy="1097280"/>
          </a:xfrm>
          <a:prstGeom prst="roundRect">
            <a:avLst>
              <a:gd name="adj" fmla="val 8333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046720" y="3291840"/>
            <a:ext cx="54864" cy="1097280"/>
          </a:xfrm>
          <a:prstGeom prst="rect">
            <a:avLst/>
          </a:prstGeom>
          <a:solidFill>
            <a:srgbClr val="007A94"/>
          </a:solidFill>
          <a:ln w="12700">
            <a:solidFill>
              <a:srgbClr val="007A94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174736" y="338328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🇪🇬  41.34.0.1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8174736" y="3712464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9FF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 6th of Oct City, Egypt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8174736" y="4005072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lookup via ip-api.com (free, no key)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365760" y="4526280"/>
            <a:ext cx="3657600" cy="1097280"/>
          </a:xfrm>
          <a:prstGeom prst="roundRect">
            <a:avLst>
              <a:gd name="adj" fmla="val 8333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65760" y="4526280"/>
            <a:ext cx="54864" cy="1097280"/>
          </a:xfrm>
          <a:prstGeom prst="rect">
            <a:avLst/>
          </a:prstGeom>
          <a:solidFill>
            <a:srgbClr val="007A94"/>
          </a:solidFill>
          <a:ln w="12700">
            <a:solidFill>
              <a:srgbClr val="007A94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93776" y="461772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🇪🇬  196.219.0.1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493776" y="4946904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9FF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 6th of Oct City, Egypt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493776" y="5239512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lookup via ip-api.com (free, no key)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4206240" y="4526280"/>
            <a:ext cx="3657600" cy="1097280"/>
          </a:xfrm>
          <a:prstGeom prst="roundRect">
            <a:avLst>
              <a:gd name="adj" fmla="val 8333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206240" y="4526280"/>
            <a:ext cx="54864" cy="1097280"/>
          </a:xfrm>
          <a:prstGeom prst="rect">
            <a:avLst/>
          </a:prstGeom>
          <a:solidFill>
            <a:srgbClr val="007A94"/>
          </a:solidFill>
          <a:ln w="12700">
            <a:solidFill>
              <a:srgbClr val="007A94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334256" y="461772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🇮🇪  185.60.216.35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4334256" y="4946904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9FF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 Dublin, Ireland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4334256" y="5239512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lookup via ip-api.com (free, no key)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8046720" y="4526280"/>
            <a:ext cx="3657600" cy="1097280"/>
          </a:xfrm>
          <a:prstGeom prst="roundRect">
            <a:avLst>
              <a:gd name="adj" fmla="val 8333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046720" y="4526280"/>
            <a:ext cx="54864" cy="1097280"/>
          </a:xfrm>
          <a:prstGeom prst="rect">
            <a:avLst/>
          </a:prstGeom>
          <a:solidFill>
            <a:srgbClr val="007A94"/>
          </a:solidFill>
          <a:ln w="12700">
            <a:solidFill>
              <a:srgbClr val="007A94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8174736" y="461772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❓  not-a-real-ip</a:t>
            </a:r>
            <a:endParaRPr lang="en-US" sz="1100" dirty="0"/>
          </a:p>
        </p:txBody>
      </p:sp>
      <p:sp>
        <p:nvSpPr>
          <p:cNvPr id="66" name="Text 64"/>
          <p:cNvSpPr/>
          <p:nvPr/>
        </p:nvSpPr>
        <p:spPr>
          <a:xfrm>
            <a:off x="8174736" y="4946904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9FF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 Unknown location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8174736" y="5239512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Fallback: invalid IP → graceful default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112745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Putting It All Together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749808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 pipeline — one real request traced end-to-end through the simulation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11274552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188720"/>
            <a:ext cx="2743200" cy="2240280"/>
          </a:xfrm>
          <a:prstGeom prst="roundRect">
            <a:avLst>
              <a:gd name="adj" fmla="val 4082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188720"/>
            <a:ext cx="27432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7472" y="1298448"/>
            <a:ext cx="347472" cy="347472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" y="129844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1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68096" y="1335024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IP Arrives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" y="1719072"/>
            <a:ext cx="2578608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TaskGenerator picks IP 196.219.0.1 (Egypt) and calls GeoLocator.lookup(ip)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154680" y="1188720"/>
            <a:ext cx="2743200" cy="2240280"/>
          </a:xfrm>
          <a:prstGeom prst="roundRect">
            <a:avLst>
              <a:gd name="adj" fmla="val 4082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154680" y="1188720"/>
            <a:ext cx="2743200" cy="54864"/>
          </a:xfrm>
          <a:prstGeom prst="rect">
            <a:avLst/>
          </a:prstGeom>
          <a:solidFill>
            <a:srgbClr val="BF5FFF"/>
          </a:solidFill>
          <a:ln w="12700">
            <a:solidFill>
              <a:srgbClr val="BF5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27832" y="1298448"/>
            <a:ext cx="347472" cy="347472"/>
          </a:xfrm>
          <a:prstGeom prst="ellipse">
            <a:avLst/>
          </a:prstGeom>
          <a:solidFill>
            <a:srgbClr val="BF5FFF"/>
          </a:solidFill>
          <a:ln w="12700">
            <a:solidFill>
              <a:srgbClr val="BF5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27832" y="129844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1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648456" y="1335024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F5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Geo-IP Lookup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246120" y="1719072"/>
            <a:ext cx="2578608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HTTP GET to ip-api.com returns {city:"6th of October City", country:"Egypt"}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035040" y="1188720"/>
            <a:ext cx="2743200" cy="2240280"/>
          </a:xfrm>
          <a:prstGeom prst="roundRect">
            <a:avLst>
              <a:gd name="adj" fmla="val 4082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035040" y="1188720"/>
            <a:ext cx="2743200" cy="54864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08192" y="1298448"/>
            <a:ext cx="347472" cy="347472"/>
          </a:xfrm>
          <a:prstGeom prst="ellipse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08192" y="129844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1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528816" y="1335024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B8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Task Created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126480" y="1719072"/>
            <a:ext cx="2578608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new Task(983ms) — id=5, burst=983ms, origin="6th of October City, Egypt"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8915400" y="1188720"/>
            <a:ext cx="2743200" cy="2240280"/>
          </a:xfrm>
          <a:prstGeom prst="roundRect">
            <a:avLst>
              <a:gd name="adj" fmla="val 4082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915400" y="1188720"/>
            <a:ext cx="2743200" cy="54864"/>
          </a:xfrm>
          <a:prstGeom prst="rect">
            <a:avLst/>
          </a:prstGeom>
          <a:solidFill>
            <a:srgbClr val="F1C40F"/>
          </a:solidFill>
          <a:ln w="12700">
            <a:solidFill>
              <a:srgbClr val="F1C40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988552" y="1298448"/>
            <a:ext cx="347472" cy="347472"/>
          </a:xfrm>
          <a:prstGeom prst="ellipse">
            <a:avLst/>
          </a:prstGeom>
          <a:solidFill>
            <a:srgbClr val="F1C40F"/>
          </a:solidFill>
          <a:ln w="12700">
            <a:solidFill>
              <a:srgbClr val="F1C40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988552" y="129844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1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409176" y="1335024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C4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Dispatch (RR)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9006840" y="1719072"/>
            <a:ext cx="2578608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LoadBalancer.dispatch() → nextIndex=1 → Server-2 assigned. nextIndex becomes 2.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74320" y="3703320"/>
            <a:ext cx="2743200" cy="2240280"/>
          </a:xfrm>
          <a:prstGeom prst="roundRect">
            <a:avLst>
              <a:gd name="adj" fmla="val 4082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74320" y="3703320"/>
            <a:ext cx="2743200" cy="54864"/>
          </a:xfrm>
          <a:prstGeom prst="rect">
            <a:avLst/>
          </a:prstGeom>
          <a:solidFill>
            <a:srgbClr val="39FF14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47472" y="3813048"/>
            <a:ext cx="347472" cy="347472"/>
          </a:xfrm>
          <a:prstGeom prst="ellipse">
            <a:avLst/>
          </a:prstGeom>
          <a:solidFill>
            <a:srgbClr val="39FF14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47472" y="381304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1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68096" y="3849624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9FF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Queue → Server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65760" y="4233672"/>
            <a:ext cx="2578608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Server-2.taskQueue.add(task) — Server-2 thread wakes from .take() and starts processing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154680" y="3703320"/>
            <a:ext cx="2743200" cy="2240280"/>
          </a:xfrm>
          <a:prstGeom prst="roundRect">
            <a:avLst>
              <a:gd name="adj" fmla="val 4082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154680" y="3703320"/>
            <a:ext cx="27432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227832" y="3813048"/>
            <a:ext cx="347472" cy="347472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227832" y="381304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1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3648456" y="3849624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Thread Processes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3246120" y="4233672"/>
            <a:ext cx="2578608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Thread.sleep(983ms) — simulates CPU burst. tasksCompleted++, totalBusyTime+=983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035040" y="3703320"/>
            <a:ext cx="2743200" cy="2240280"/>
          </a:xfrm>
          <a:prstGeom prst="roundRect">
            <a:avLst>
              <a:gd name="adj" fmla="val 4082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035040" y="3703320"/>
            <a:ext cx="2743200" cy="54864"/>
          </a:xfrm>
          <a:prstGeom prst="rect">
            <a:avLst/>
          </a:prstGeom>
          <a:solidFill>
            <a:srgbClr val="BF5FFF"/>
          </a:solidFill>
          <a:ln w="12700">
            <a:solidFill>
              <a:srgbClr val="BF5FF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108192" y="3813048"/>
            <a:ext cx="347472" cy="347472"/>
          </a:xfrm>
          <a:prstGeom prst="ellipse">
            <a:avLst/>
          </a:prstGeom>
          <a:solidFill>
            <a:srgbClr val="BF5FFF"/>
          </a:solidFill>
          <a:ln w="12700">
            <a:solidFill>
              <a:srgbClr val="BF5FF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108192" y="381304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1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6528816" y="3849624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F5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Task Complete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6126480" y="4233672"/>
            <a:ext cx="2578608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"[Server-2] finished Task-5 (burst=983ms, from 6th of October City, Egypt)"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8915400" y="3703320"/>
            <a:ext cx="2743200" cy="2240280"/>
          </a:xfrm>
          <a:prstGeom prst="roundRect">
            <a:avLst>
              <a:gd name="adj" fmla="val 4082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915400" y="3703320"/>
            <a:ext cx="2743200" cy="54864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988552" y="3813048"/>
            <a:ext cx="347472" cy="347472"/>
          </a:xfrm>
          <a:prstGeom prst="ellipse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988552" y="381304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1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9409176" y="3849624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B8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Summary Stats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9006840" y="4233672"/>
            <a:ext cx="2578608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After all tasks: printSummary() prints per-server task count, avg burst, total busy time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3017520" y="2286000"/>
            <a:ext cx="137160" cy="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  <a:tailEnd type="arrow"/>
          </a:ln>
        </p:spPr>
      </p:sp>
      <p:sp>
        <p:nvSpPr>
          <p:cNvPr id="56" name="Shape 54"/>
          <p:cNvSpPr/>
          <p:nvPr/>
        </p:nvSpPr>
        <p:spPr>
          <a:xfrm>
            <a:off x="5897880" y="2286000"/>
            <a:ext cx="137160" cy="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  <a:tailEnd type="arrow"/>
          </a:ln>
        </p:spPr>
      </p:sp>
      <p:sp>
        <p:nvSpPr>
          <p:cNvPr id="57" name="Shape 55"/>
          <p:cNvSpPr/>
          <p:nvPr/>
        </p:nvSpPr>
        <p:spPr>
          <a:xfrm>
            <a:off x="8778240" y="2286000"/>
            <a:ext cx="137160" cy="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  <a:tailEnd type="arrow"/>
          </a:ln>
        </p:spPr>
      </p:sp>
      <p:sp>
        <p:nvSpPr>
          <p:cNvPr id="58" name="Shape 56"/>
          <p:cNvSpPr/>
          <p:nvPr/>
        </p:nvSpPr>
        <p:spPr>
          <a:xfrm>
            <a:off x="10287000" y="3429000"/>
            <a:ext cx="0" cy="274320"/>
          </a:xfrm>
          <a:prstGeom prst="line">
            <a:avLst/>
          </a:prstGeom>
          <a:noFill/>
          <a:ln w="19050">
            <a:solidFill>
              <a:srgbClr val="FFB800"/>
            </a:solidFill>
            <a:prstDash val="solid"/>
            <a:tailEnd type="arrow"/>
          </a:ln>
        </p:spPr>
      </p:sp>
      <p:sp>
        <p:nvSpPr>
          <p:cNvPr id="59" name="Shape 57"/>
          <p:cNvSpPr/>
          <p:nvPr/>
        </p:nvSpPr>
        <p:spPr>
          <a:xfrm>
            <a:off x="8778240" y="4818888"/>
            <a:ext cx="-137160" cy="0"/>
          </a:xfrm>
          <a:prstGeom prst="line">
            <a:avLst/>
          </a:prstGeom>
          <a:noFill/>
          <a:ln w="19050">
            <a:solidFill>
              <a:srgbClr val="39FF14"/>
            </a:solidFill>
            <a:prstDash val="solid"/>
            <a:tailEnd type="arrow"/>
          </a:ln>
        </p:spPr>
      </p:sp>
      <p:sp>
        <p:nvSpPr>
          <p:cNvPr id="60" name="Shape 58"/>
          <p:cNvSpPr/>
          <p:nvPr/>
        </p:nvSpPr>
        <p:spPr>
          <a:xfrm>
            <a:off x="5897880" y="4818888"/>
            <a:ext cx="-137160" cy="0"/>
          </a:xfrm>
          <a:prstGeom prst="line">
            <a:avLst/>
          </a:prstGeom>
          <a:noFill/>
          <a:ln w="19050">
            <a:solidFill>
              <a:srgbClr val="39FF14"/>
            </a:solidFill>
            <a:prstDash val="solid"/>
            <a:tailEnd type="arrow"/>
          </a:ln>
        </p:spPr>
      </p:sp>
      <p:sp>
        <p:nvSpPr>
          <p:cNvPr id="61" name="Shape 59"/>
          <p:cNvSpPr/>
          <p:nvPr/>
        </p:nvSpPr>
        <p:spPr>
          <a:xfrm>
            <a:off x="3017520" y="4818888"/>
            <a:ext cx="-137160" cy="0"/>
          </a:xfrm>
          <a:prstGeom prst="line">
            <a:avLst/>
          </a:prstGeom>
          <a:noFill/>
          <a:ln w="19050">
            <a:solidFill>
              <a:srgbClr val="39FF14"/>
            </a:solidFill>
            <a:prstDash val="solid"/>
            <a:tailEnd type="arrow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112745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Architecture &amp; Key Takeaways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749808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Class relationships + the 4 core concepts to remember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11274552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0" y="1188720"/>
            <a:ext cx="2651760" cy="1188720"/>
          </a:xfrm>
          <a:prstGeom prst="roundRect">
            <a:avLst>
              <a:gd name="adj" fmla="val 7692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0" y="1188720"/>
            <a:ext cx="2651760" cy="54864"/>
          </a:xfrm>
          <a:prstGeom prst="rect">
            <a:avLst/>
          </a:prstGeom>
          <a:solidFill>
            <a:srgbClr val="F0F6FC"/>
          </a:solidFill>
          <a:ln w="12700">
            <a:solidFill>
              <a:srgbClr val="F0F6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02352" y="1298448"/>
            <a:ext cx="25054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CloudLoadBalancer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102352" y="1664208"/>
            <a:ext cx="250545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main()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Entry point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74320" y="2743200"/>
            <a:ext cx="2651760" cy="1188720"/>
          </a:xfrm>
          <a:prstGeom prst="roundRect">
            <a:avLst>
              <a:gd name="adj" fmla="val 7692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2743200"/>
            <a:ext cx="2651760" cy="54864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" y="2852928"/>
            <a:ext cx="25054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B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TaskGenerator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47472" y="3218688"/>
            <a:ext cx="250545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Runnable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Produces Tasks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029200" y="2743200"/>
            <a:ext cx="2651760" cy="1188720"/>
          </a:xfrm>
          <a:prstGeom prst="roundRect">
            <a:avLst>
              <a:gd name="adj" fmla="val 7692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29200" y="2743200"/>
            <a:ext cx="2651760" cy="54864"/>
          </a:xfrm>
          <a:prstGeom prst="rect">
            <a:avLst/>
          </a:prstGeom>
          <a:solidFill>
            <a:srgbClr val="F1C40F"/>
          </a:solidFill>
          <a:ln w="12700">
            <a:solidFill>
              <a:srgbClr val="F1C40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02352" y="2852928"/>
            <a:ext cx="25054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C4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LoadBalancer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102352" y="3218688"/>
            <a:ext cx="250545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Round Robin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dispatch(task)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74320" y="4297680"/>
            <a:ext cx="2651760" cy="1188720"/>
          </a:xfrm>
          <a:prstGeom prst="roundRect">
            <a:avLst>
              <a:gd name="adj" fmla="val 7692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" y="4297680"/>
            <a:ext cx="2651760" cy="54864"/>
          </a:xfrm>
          <a:prstGeom prst="rect">
            <a:avLst/>
          </a:prstGeom>
          <a:solidFill>
            <a:srgbClr val="BF5FFF"/>
          </a:solidFill>
          <a:ln w="12700">
            <a:solidFill>
              <a:srgbClr val="BF5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" y="4407408"/>
            <a:ext cx="25054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F5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GeoLocator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47472" y="4773168"/>
            <a:ext cx="250545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lookup(ip)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HTTP API call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108960" y="4297680"/>
            <a:ext cx="2651760" cy="1188720"/>
          </a:xfrm>
          <a:prstGeom prst="roundRect">
            <a:avLst>
              <a:gd name="adj" fmla="val 7692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108960" y="4297680"/>
            <a:ext cx="265176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182112" y="4407408"/>
            <a:ext cx="25054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182112" y="4773168"/>
            <a:ext cx="250545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id, burst,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arrival, origin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7955280" y="2743200"/>
            <a:ext cx="2651760" cy="1188720"/>
          </a:xfrm>
          <a:prstGeom prst="roundRect">
            <a:avLst>
              <a:gd name="adj" fmla="val 7692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955280" y="2743200"/>
            <a:ext cx="2651760" cy="54864"/>
          </a:xfrm>
          <a:prstGeom prst="rect">
            <a:avLst/>
          </a:prstGeom>
          <a:solidFill>
            <a:srgbClr val="39FF14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028432" y="2852928"/>
            <a:ext cx="25054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9F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Server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028432" y="3218688"/>
            <a:ext cx="250545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Runnable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BlockingQueue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926080" y="1828800"/>
            <a:ext cx="2103120" cy="91440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  <a:tailEnd type="arrow"/>
          </a:ln>
        </p:spPr>
      </p:sp>
      <p:sp>
        <p:nvSpPr>
          <p:cNvPr id="32" name="Shape 30"/>
          <p:cNvSpPr/>
          <p:nvPr/>
        </p:nvSpPr>
        <p:spPr>
          <a:xfrm>
            <a:off x="6355080" y="2377440"/>
            <a:ext cx="9144" cy="36576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  <a:tailEnd type="arrow"/>
          </a:ln>
        </p:spPr>
      </p:sp>
      <p:sp>
        <p:nvSpPr>
          <p:cNvPr id="33" name="Shape 31"/>
          <p:cNvSpPr/>
          <p:nvPr/>
        </p:nvSpPr>
        <p:spPr>
          <a:xfrm>
            <a:off x="7680960" y="1828800"/>
            <a:ext cx="1600200" cy="91440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  <a:tailEnd type="arrow"/>
          </a:ln>
        </p:spPr>
      </p:sp>
      <p:sp>
        <p:nvSpPr>
          <p:cNvPr id="34" name="Shape 32"/>
          <p:cNvSpPr/>
          <p:nvPr/>
        </p:nvSpPr>
        <p:spPr>
          <a:xfrm>
            <a:off x="1600200" y="3931920"/>
            <a:ext cx="9144" cy="36576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  <a:tailEnd type="arrow"/>
          </a:ln>
        </p:spPr>
      </p:sp>
      <p:sp>
        <p:nvSpPr>
          <p:cNvPr id="35" name="Shape 33"/>
          <p:cNvSpPr/>
          <p:nvPr/>
        </p:nvSpPr>
        <p:spPr>
          <a:xfrm>
            <a:off x="2926080" y="3337560"/>
            <a:ext cx="2103120" cy="9144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  <a:tailEnd type="arrow"/>
          </a:ln>
        </p:spPr>
      </p:sp>
      <p:sp>
        <p:nvSpPr>
          <p:cNvPr id="36" name="Shape 34"/>
          <p:cNvSpPr/>
          <p:nvPr/>
        </p:nvSpPr>
        <p:spPr>
          <a:xfrm>
            <a:off x="7680960" y="3337560"/>
            <a:ext cx="274320" cy="9144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  <a:tailEnd type="arrow"/>
          </a:ln>
        </p:spPr>
      </p:sp>
      <p:sp>
        <p:nvSpPr>
          <p:cNvPr id="37" name="Shape 35"/>
          <p:cNvSpPr/>
          <p:nvPr/>
        </p:nvSpPr>
        <p:spPr>
          <a:xfrm>
            <a:off x="4434840" y="3931920"/>
            <a:ext cx="1920240" cy="36576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  <a:tailEnd type="arrow"/>
          </a:ln>
        </p:spPr>
      </p:sp>
      <p:sp>
        <p:nvSpPr>
          <p:cNvPr id="38" name="Shape 36"/>
          <p:cNvSpPr/>
          <p:nvPr/>
        </p:nvSpPr>
        <p:spPr>
          <a:xfrm>
            <a:off x="10789920" y="1188720"/>
            <a:ext cx="1188720" cy="5029200"/>
          </a:xfrm>
          <a:prstGeom prst="roundRect">
            <a:avLst>
              <a:gd name="adj" fmla="val 7692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0789920" y="1188720"/>
            <a:ext cx="1170432" cy="1188720"/>
          </a:xfrm>
          <a:prstGeom prst="roundRect">
            <a:avLst>
              <a:gd name="adj" fmla="val 7813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0789920" y="1188720"/>
            <a:ext cx="1170432" cy="54864"/>
          </a:xfrm>
          <a:prstGeom prst="rect">
            <a:avLst/>
          </a:prstGeom>
          <a:solidFill>
            <a:srgbClr val="F1C40F"/>
          </a:solidFill>
          <a:ln w="12700">
            <a:solidFill>
              <a:srgbClr val="F1C40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0789920" y="1280160"/>
            <a:ext cx="11704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🔁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10789920" y="1755648"/>
            <a:ext cx="11704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Round Robin guarantees fair, O(1) task dispatch using a rotating atomic index — no starvation.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10789920" y="2514600"/>
            <a:ext cx="1188720" cy="5029200"/>
          </a:xfrm>
          <a:prstGeom prst="roundRect">
            <a:avLst>
              <a:gd name="adj" fmla="val 7692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0789920" y="2514600"/>
            <a:ext cx="1170432" cy="1188720"/>
          </a:xfrm>
          <a:prstGeom prst="roundRect">
            <a:avLst>
              <a:gd name="adj" fmla="val 7813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0789920" y="2514600"/>
            <a:ext cx="1170432" cy="54864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0789920" y="2606040"/>
            <a:ext cx="11704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🧵</a:t>
            </a:r>
            <a:endParaRPr lang="en-US" sz="2200" dirty="0"/>
          </a:p>
        </p:txBody>
      </p:sp>
      <p:sp>
        <p:nvSpPr>
          <p:cNvPr id="47" name="Text 45"/>
          <p:cNvSpPr/>
          <p:nvPr/>
        </p:nvSpPr>
        <p:spPr>
          <a:xfrm>
            <a:off x="10789920" y="3081528"/>
            <a:ext cx="11704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Server Threads (VMs) run concurrently using BlockingQueue as a thread-safe producer-consumer channel.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10789920" y="3840480"/>
            <a:ext cx="1188720" cy="5029200"/>
          </a:xfrm>
          <a:prstGeom prst="roundRect">
            <a:avLst>
              <a:gd name="adj" fmla="val 7692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0789920" y="3840480"/>
            <a:ext cx="1170432" cy="1188720"/>
          </a:xfrm>
          <a:prstGeom prst="roundRect">
            <a:avLst>
              <a:gd name="adj" fmla="val 7813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0789920" y="3840480"/>
            <a:ext cx="1170432" cy="54864"/>
          </a:xfrm>
          <a:prstGeom prst="rect">
            <a:avLst/>
          </a:prstGeom>
          <a:solidFill>
            <a:srgbClr val="BF5FFF"/>
          </a:solidFill>
          <a:ln w="12700">
            <a:solidFill>
              <a:srgbClr val="BF5FF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0789920" y="3931920"/>
            <a:ext cx="11704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🌐</a:t>
            </a:r>
            <a:endParaRPr lang="en-US" sz="2200" dirty="0"/>
          </a:p>
        </p:txBody>
      </p:sp>
      <p:sp>
        <p:nvSpPr>
          <p:cNvPr id="52" name="Text 50"/>
          <p:cNvSpPr/>
          <p:nvPr/>
        </p:nvSpPr>
        <p:spPr>
          <a:xfrm>
            <a:off x="10789920" y="4407408"/>
            <a:ext cx="11704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GeoLocator makes real HTTP API calls to ip-api.com, tagging each task with its geographic origin.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10789920" y="5166360"/>
            <a:ext cx="1188720" cy="5029200"/>
          </a:xfrm>
          <a:prstGeom prst="roundRect">
            <a:avLst>
              <a:gd name="adj" fmla="val 7692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0789920" y="5166360"/>
            <a:ext cx="1170432" cy="1188720"/>
          </a:xfrm>
          <a:prstGeom prst="roundRect">
            <a:avLst>
              <a:gd name="adj" fmla="val 7813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0789920" y="5166360"/>
            <a:ext cx="1170432" cy="54864"/>
          </a:xfrm>
          <a:prstGeom prst="rect">
            <a:avLst/>
          </a:prstGeom>
          <a:solidFill>
            <a:srgbClr val="39FF14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0789920" y="5257800"/>
            <a:ext cx="11704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57" name="Text 55"/>
          <p:cNvSpPr/>
          <p:nvPr/>
        </p:nvSpPr>
        <p:spPr>
          <a:xfrm>
            <a:off x="10789920" y="5733288"/>
            <a:ext cx="11704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Thread.join() &amp; volatile flags enable clean, coordinated shutdown and accurate final statistics.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Cloud / Data Center Manager: Load Balancer Simulation</dc:title>
  <dc:subject>Cloud Data Center Manager — Load Balancer Simulation</dc:subject>
  <dc:creator>Youssef Eslam</dc:creator>
  <cp:lastModifiedBy>Youssef Eslam</cp:lastModifiedBy>
  <cp:revision>1</cp:revision>
  <dcterms:created xsi:type="dcterms:W3CDTF">2026-08-12T14:03:03Z</dcterms:created>
  <dcterms:modified xsi:type="dcterms:W3CDTF">2026-08-12T14:03:03Z</dcterms:modified>
</cp:coreProperties>
</file>